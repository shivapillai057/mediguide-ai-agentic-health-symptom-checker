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62" r:id="rId7"/>
    <p:sldId id="288" r:id="rId8"/>
    <p:sldId id="264" r:id="rId9"/>
    <p:sldId id="278" r:id="rId10"/>
    <p:sldId id="286" r:id="rId11"/>
    <p:sldId id="287"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B33D89-3AB7-4967-AF5C-3FCC1CC688E6}" v="5" dt="2026-06-03T18:39:21.46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41" autoAdjust="0"/>
  </p:normalViewPr>
  <p:slideViewPr>
    <p:cSldViewPr snapToGrid="0">
      <p:cViewPr varScale="1">
        <p:scale>
          <a:sx n="78" d="100"/>
          <a:sy n="78" d="100"/>
        </p:scale>
        <p:origin x="850"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004124643"/>
              </p:ext>
            </p:extLst>
          </p:nvPr>
        </p:nvGraphicFramePr>
        <p:xfrm>
          <a:off x="1299257" y="2600315"/>
          <a:ext cx="9394989" cy="2449206"/>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099915">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49291">
                <a:tc>
                  <a:txBody>
                    <a:bodyPr/>
                    <a:lstStyle/>
                    <a:p>
                      <a:pPr marL="0" marR="0" lvl="0" indent="0" algn="l" rtl="0">
                        <a:spcBef>
                          <a:spcPts val="0"/>
                        </a:spcBef>
                        <a:spcAft>
                          <a:spcPts val="0"/>
                        </a:spcAft>
                        <a:buNone/>
                      </a:pPr>
                      <a:r>
                        <a:rPr lang="en-US" dirty="0"/>
                        <a:t>Shiva Pillai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241b239@juetguna.in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9179910402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377915" y="1431294"/>
            <a:ext cx="10280254" cy="461665"/>
          </a:xfrm>
          <a:prstGeom prst="rect">
            <a:avLst/>
          </a:prstGeom>
          <a:noFill/>
        </p:spPr>
        <p:txBody>
          <a:bodyPr wrap="square" rtlCol="0">
            <a:spAutoFit/>
          </a:bodyPr>
          <a:lstStyle/>
          <a:p>
            <a:r>
              <a:rPr lang="en-US" sz="2400" b="1" dirty="0"/>
              <a:t>Domain of  Project – HealthCare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99257" y="544427"/>
            <a:ext cx="9581177" cy="461665"/>
          </a:xfrm>
          <a:prstGeom prst="rect">
            <a:avLst/>
          </a:prstGeom>
          <a:noFill/>
        </p:spPr>
        <p:txBody>
          <a:bodyPr wrap="square" rtlCol="0">
            <a:spAutoFit/>
          </a:bodyPr>
          <a:lstStyle/>
          <a:p>
            <a:r>
              <a:rPr lang="en-US" sz="2400" b="1" dirty="0"/>
              <a:t>Project Tile – </a:t>
            </a:r>
            <a:r>
              <a:rPr lang="en-IN" sz="2400" dirty="0"/>
              <a:t>Agentic AI Health Symptom Checker </a:t>
            </a:r>
            <a:endParaRPr lang="en-IN" sz="2400" b="1" dirty="0">
              <a:highlight>
                <a:srgbClr val="FFFF00"/>
              </a:highlight>
            </a:endParaRPr>
          </a:p>
        </p:txBody>
      </p:sp>
      <p:pic>
        <p:nvPicPr>
          <p:cNvPr id="3" name="Picture 2">
            <a:extLst>
              <a:ext uri="{FF2B5EF4-FFF2-40B4-BE49-F238E27FC236}">
                <a16:creationId xmlns:a16="http://schemas.microsoft.com/office/drawing/2014/main" id="{28ECE466-B947-E03B-88E2-F48C7064E9F8}"/>
              </a:ext>
            </a:extLst>
          </p:cNvPr>
          <p:cNvPicPr>
            <a:picLocks noChangeAspect="1"/>
          </p:cNvPicPr>
          <p:nvPr/>
        </p:nvPicPr>
        <p:blipFill>
          <a:blip r:embed="rId3"/>
          <a:stretch>
            <a:fillRect/>
          </a:stretch>
        </p:blipFill>
        <p:spPr>
          <a:xfrm>
            <a:off x="4023360" y="3879259"/>
            <a:ext cx="910747" cy="10483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78423"/>
          </a:xfrm>
          <a:prstGeom prst="rect">
            <a:avLst/>
          </a:prstGeom>
          <a:noFill/>
        </p:spPr>
        <p:txBody>
          <a:bodyPr wrap="square" rtlCol="0">
            <a:spAutoFit/>
          </a:bodyPr>
          <a:lstStyle/>
          <a:p>
            <a:r>
              <a:rPr lang="en-IN" b="1" dirty="0"/>
              <a:t>Problem Statement : MediGuide AI - Agentic Health Symptom Checker</a:t>
            </a:r>
          </a:p>
          <a:p>
            <a:r>
              <a:rPr lang="en-IN" b="1" dirty="0"/>
              <a:t>The Challenge</a:t>
            </a:r>
          </a:p>
          <a:p>
            <a:r>
              <a:rPr lang="en-IN" dirty="0"/>
              <a:t>Access to reliable health information remains a challenge for many individuals. People often struggle to understand symptoms, assess their severity, and determine when medical attention is necessary. Health information is scattered across websites, forums, and social media, leading to misinformation and delayed healthcare decisions. Without personalized, real-time guidance, users may overlook important symptoms or engage in unsafe self-diagnosis.</a:t>
            </a:r>
          </a:p>
          <a:p>
            <a:r>
              <a:rPr lang="en-IN" b="1" dirty="0"/>
              <a:t>The Objective</a:t>
            </a:r>
          </a:p>
          <a:p>
            <a:r>
              <a:rPr lang="en-IN" dirty="0"/>
              <a:t>Build an AI-powered Health Symptom Checker that provides personalized health insights and guidance using trusted medical sources. The solution should:</a:t>
            </a:r>
          </a:p>
          <a:p>
            <a:r>
              <a:rPr lang="en-IN" dirty="0"/>
              <a:t>• </a:t>
            </a:r>
            <a:r>
              <a:rPr lang="en-IN" b="1" dirty="0"/>
              <a:t>Symptom Analysis</a:t>
            </a:r>
            <a:r>
              <a:rPr lang="en-IN" dirty="0"/>
              <a:t> – Understand symptoms described in natural language and identify possible health conditions.</a:t>
            </a:r>
          </a:p>
          <a:p>
            <a:r>
              <a:rPr lang="en-IN" dirty="0"/>
              <a:t>• </a:t>
            </a:r>
            <a:r>
              <a:rPr lang="en-IN" b="1" dirty="0"/>
              <a:t>Medical Knowledge RAG Retrieval</a:t>
            </a:r>
            <a:r>
              <a:rPr lang="en-IN" dirty="0"/>
              <a:t> – Retrieve verified information from WHO guidelines, government health portals, and trusted medical references.</a:t>
            </a:r>
          </a:p>
          <a:p>
            <a:r>
              <a:rPr lang="en-IN" dirty="0"/>
              <a:t>• </a:t>
            </a:r>
            <a:r>
              <a:rPr lang="en-IN" b="1" dirty="0"/>
              <a:t>Urgency Assessment</a:t>
            </a:r>
            <a:r>
              <a:rPr lang="en-IN" dirty="0"/>
              <a:t> – Classify symptom severity as Low, Medium, or High and recommend appropriate next steps.</a:t>
            </a:r>
          </a:p>
          <a:p>
            <a:r>
              <a:rPr lang="en-IN" dirty="0"/>
              <a:t>• </a:t>
            </a:r>
            <a:r>
              <a:rPr lang="en-IN" b="1" dirty="0"/>
              <a:t>Preventive Health Guidance</a:t>
            </a:r>
            <a:r>
              <a:rPr lang="en-IN" dirty="0"/>
              <a:t> – Provide self-care recommendations, preventive measures, and wellness tips.</a:t>
            </a:r>
          </a:p>
          <a:p>
            <a:r>
              <a:rPr lang="en-IN" dirty="0"/>
              <a:t>• </a:t>
            </a:r>
            <a:r>
              <a:rPr lang="en-IN" b="1" dirty="0"/>
              <a:t>Multi-Language Support</a:t>
            </a:r>
            <a:r>
              <a:rPr lang="en-IN" dirty="0"/>
              <a:t> – Enable users to interact in multiple languages for greater accessibility.</a:t>
            </a:r>
          </a:p>
          <a:p>
            <a:r>
              <a:rPr lang="en-IN" dirty="0"/>
              <a:t>• </a:t>
            </a:r>
            <a:r>
              <a:rPr lang="en-IN" b="1" dirty="0"/>
              <a:t>Agentic AI System</a:t>
            </a:r>
            <a:r>
              <a:rPr lang="en-IN" dirty="0"/>
              <a:t> – Coordinate multiple AI capabilities to retrieve, </a:t>
            </a:r>
            <a:r>
              <a:rPr lang="en-IN" dirty="0" err="1"/>
              <a:t>analyze</a:t>
            </a:r>
            <a:r>
              <a:rPr lang="en-IN" dirty="0"/>
              <a:t>, and explain health information.</a:t>
            </a:r>
          </a:p>
          <a:p>
            <a:r>
              <a:rPr lang="en-IN" dirty="0"/>
              <a:t>• </a:t>
            </a:r>
            <a:r>
              <a:rPr lang="en-IN" b="1" dirty="0"/>
              <a:t>Health Knowledge Agent</a:t>
            </a:r>
            <a:r>
              <a:rPr lang="en-IN" dirty="0"/>
              <a:t> – Fetch trusted medical information and guidelines.</a:t>
            </a:r>
          </a:p>
          <a:p>
            <a:r>
              <a:rPr lang="en-IN" dirty="0"/>
              <a:t>• </a:t>
            </a:r>
            <a:r>
              <a:rPr lang="en-IN" b="1" dirty="0"/>
              <a:t>Symptom Assessment Agent</a:t>
            </a:r>
            <a:r>
              <a:rPr lang="en-IN" dirty="0"/>
              <a:t> – </a:t>
            </a:r>
            <a:r>
              <a:rPr lang="en-IN" dirty="0" err="1"/>
              <a:t>Analyze</a:t>
            </a:r>
            <a:r>
              <a:rPr lang="en-IN" dirty="0"/>
              <a:t> symptoms and identify possible causes.</a:t>
            </a:r>
          </a:p>
          <a:p>
            <a:r>
              <a:rPr lang="en-IN" dirty="0"/>
              <a:t>• </a:t>
            </a:r>
            <a:r>
              <a:rPr lang="en-IN" b="1" dirty="0"/>
              <a:t>Health Advisory Agent</a:t>
            </a:r>
            <a:r>
              <a:rPr lang="en-IN" dirty="0"/>
              <a:t> – Provide preventive care recommendations and healthcare guidance.</a:t>
            </a:r>
          </a:p>
          <a:p>
            <a:r>
              <a:rPr lang="en-IN" dirty="0"/>
              <a:t>• </a:t>
            </a:r>
            <a:r>
              <a:rPr lang="en-IN" b="1" dirty="0"/>
              <a:t>Emergency Detection Agent</a:t>
            </a:r>
            <a:r>
              <a:rPr lang="en-IN" dirty="0"/>
              <a:t> – Detect warning signs and recommend immediate medical attention when necessary.</a:t>
            </a:r>
          </a:p>
          <a:p>
            <a:r>
              <a:rPr lang="en-IN" dirty="0"/>
              <a:t>• </a:t>
            </a:r>
            <a:r>
              <a:rPr lang="en-IN" b="1" dirty="0"/>
              <a:t>Health Insights Dashboard</a:t>
            </a:r>
            <a:r>
              <a:rPr lang="en-IN" dirty="0"/>
              <a:t> – Display symptom history, health trends, and personalized recommendations.</a:t>
            </a:r>
          </a:p>
          <a:p>
            <a:r>
              <a:rPr lang="en-IN" b="1" dirty="0"/>
              <a:t>Expected Outcome</a:t>
            </a:r>
          </a:p>
          <a:p>
            <a:r>
              <a:rPr lang="en-IN" dirty="0"/>
              <a:t>MediGuide AI will empower users with trustworthy health information, promote early awareness of potential health conditions, reduce misinformation, and encourage timely consultation with healthcare professionals while avoiding self-diagnosis risks.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4616648"/>
          </a:xfrm>
          <a:prstGeom prst="rect">
            <a:avLst/>
          </a:prstGeom>
          <a:noFill/>
        </p:spPr>
        <p:txBody>
          <a:bodyPr wrap="square" rtlCol="0">
            <a:spAutoFit/>
          </a:bodyPr>
          <a:lstStyle/>
          <a:p>
            <a:r>
              <a:rPr lang="en-IN" b="1" dirty="0"/>
              <a:t>Technology Used</a:t>
            </a:r>
          </a:p>
          <a:p>
            <a:r>
              <a:rPr lang="en-IN" b="1" dirty="0"/>
              <a:t>Tech Stack (Mandatory)</a:t>
            </a:r>
          </a:p>
          <a:p>
            <a:r>
              <a:rPr lang="en-IN" dirty="0"/>
              <a:t>The solution is developed using the following technologies:</a:t>
            </a:r>
          </a:p>
          <a:p>
            <a:r>
              <a:rPr lang="en-IN" dirty="0"/>
              <a:t>• </a:t>
            </a:r>
            <a:r>
              <a:rPr lang="en-IN" b="1" dirty="0"/>
              <a:t>IBM </a:t>
            </a:r>
            <a:r>
              <a:rPr lang="en-IN" b="1" dirty="0" err="1"/>
              <a:t>watsonx</a:t>
            </a:r>
            <a:r>
              <a:rPr lang="en-IN" b="1" dirty="0"/>
              <a:t> Orchestrate</a:t>
            </a:r>
            <a:r>
              <a:rPr lang="en-IN" dirty="0"/>
              <a:t> – Agent orchestration, workflow management, and intelligent decision-making.</a:t>
            </a:r>
          </a:p>
          <a:p>
            <a:r>
              <a:rPr lang="en-IN" dirty="0"/>
              <a:t>• </a:t>
            </a:r>
            <a:r>
              <a:rPr lang="en-IN" b="1" dirty="0"/>
              <a:t>IBM watsonx.ai</a:t>
            </a:r>
            <a:r>
              <a:rPr lang="en-IN" dirty="0"/>
              <a:t> – Large Language Model (LLM) capabilities for symptom understanding, reasoning, and response generation.</a:t>
            </a:r>
          </a:p>
          <a:p>
            <a:r>
              <a:rPr lang="en-IN" dirty="0"/>
              <a:t>• </a:t>
            </a:r>
            <a:r>
              <a:rPr lang="en-IN" b="1" dirty="0"/>
              <a:t>GPT-OSS 120B Model</a:t>
            </a:r>
            <a:r>
              <a:rPr lang="en-IN" dirty="0"/>
              <a:t> – Natural language processing, health query analysis, and conversational interactions.</a:t>
            </a:r>
          </a:p>
          <a:p>
            <a:r>
              <a:rPr lang="en-IN" dirty="0"/>
              <a:t>• </a:t>
            </a:r>
            <a:r>
              <a:rPr lang="en-IN" b="1" dirty="0"/>
              <a:t>Retrieval-Augmented Generation (RAG)</a:t>
            </a:r>
            <a:r>
              <a:rPr lang="en-IN" dirty="0"/>
              <a:t> – Retrieves trusted medical information from uploaded health documents and knowledge sources.</a:t>
            </a:r>
          </a:p>
          <a:p>
            <a:r>
              <a:rPr lang="en-IN" dirty="0"/>
              <a:t>• </a:t>
            </a:r>
            <a:r>
              <a:rPr lang="en-IN" b="1" dirty="0"/>
              <a:t>Knowledge Base</a:t>
            </a:r>
            <a:r>
              <a:rPr lang="en-IN" dirty="0"/>
              <a:t> – WHO guidelines, government health resources, first-aid manuals, and verified medical references.</a:t>
            </a:r>
          </a:p>
          <a:p>
            <a:r>
              <a:rPr lang="en-IN" dirty="0"/>
              <a:t>• </a:t>
            </a:r>
            <a:r>
              <a:rPr lang="en-IN" b="1" dirty="0"/>
              <a:t>IBM Cloud Lite Services</a:t>
            </a:r>
            <a:r>
              <a:rPr lang="en-IN" dirty="0"/>
              <a:t> – Cloud hosting and deployment environment.</a:t>
            </a:r>
          </a:p>
          <a:p>
            <a:r>
              <a:rPr lang="en-IN" dirty="0"/>
              <a:t>• </a:t>
            </a:r>
            <a:r>
              <a:rPr lang="en-IN" b="1" dirty="0"/>
              <a:t>HTML, CSS, JavaScript</a:t>
            </a:r>
            <a:r>
              <a:rPr lang="en-IN" dirty="0"/>
              <a:t> – User interface and web application development.</a:t>
            </a:r>
          </a:p>
          <a:p>
            <a:r>
              <a:rPr lang="en-IN" b="1" dirty="0"/>
              <a:t>Architecture</a:t>
            </a:r>
          </a:p>
          <a:p>
            <a:r>
              <a:rPr lang="en-IN" dirty="0"/>
              <a:t>User → MediGuide AI Interface → IBM </a:t>
            </a:r>
            <a:r>
              <a:rPr lang="en-IN" dirty="0" err="1"/>
              <a:t>watsonx</a:t>
            </a:r>
            <a:r>
              <a:rPr lang="en-IN" dirty="0"/>
              <a:t> Orchestrate → GPT-OSS 120B → RAG Knowledge Base → Health Guidance &amp; Recommendations</a:t>
            </a:r>
          </a:p>
          <a:p>
            <a:r>
              <a:rPr lang="en-IN" b="1" dirty="0"/>
              <a:t>Key Technologies</a:t>
            </a:r>
          </a:p>
          <a:p>
            <a:r>
              <a:rPr lang="en-IN" dirty="0"/>
              <a:t>✓ IBM </a:t>
            </a:r>
            <a:r>
              <a:rPr lang="en-IN" dirty="0" err="1"/>
              <a:t>watsonx</a:t>
            </a:r>
            <a:r>
              <a:rPr lang="en-IN" dirty="0"/>
              <a:t> Orchestrate</a:t>
            </a:r>
            <a:br>
              <a:rPr lang="en-IN" dirty="0"/>
            </a:br>
            <a:r>
              <a:rPr lang="en-IN" dirty="0"/>
              <a:t>✓ IBM watsonx.ai</a:t>
            </a:r>
            <a:br>
              <a:rPr lang="en-IN" dirty="0"/>
            </a:br>
            <a:r>
              <a:rPr lang="en-IN" dirty="0"/>
              <a:t>✓ GPT-OSS 120B</a:t>
            </a:r>
            <a:br>
              <a:rPr lang="en-IN" dirty="0"/>
            </a:br>
            <a:r>
              <a:rPr lang="en-IN" dirty="0"/>
              <a:t>✓ RAG (Retrieval-Augmented Generation)</a:t>
            </a:r>
            <a:br>
              <a:rPr lang="en-IN" dirty="0"/>
            </a:br>
            <a:r>
              <a:rPr lang="en-IN" dirty="0"/>
              <a:t>✓ IBM Cloud Lite</a:t>
            </a:r>
            <a:br>
              <a:rPr lang="en-IN" dirty="0"/>
            </a:br>
            <a:r>
              <a:rPr lang="en-IN" dirty="0"/>
              <a:t>✓ HTML/CSS/JavaScript</a:t>
            </a:r>
          </a:p>
        </p:txBody>
      </p:sp>
      <p:sp>
        <p:nvSpPr>
          <p:cNvPr id="3" name="TextBox 2">
            <a:extLst>
              <a:ext uri="{FF2B5EF4-FFF2-40B4-BE49-F238E27FC236}">
                <a16:creationId xmlns:a16="http://schemas.microsoft.com/office/drawing/2014/main" id="{FBD926A1-0833-2949-651F-2AAB4D91A8C9}"/>
              </a:ext>
            </a:extLst>
          </p:cNvPr>
          <p:cNvSpPr txBox="1"/>
          <p:nvPr/>
        </p:nvSpPr>
        <p:spPr>
          <a:xfrm>
            <a:off x="477749" y="822076"/>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IN" b="1" dirty="0"/>
              <a:t>Proposed Solution: MediGuide AI - Agentic Health Symptom Checker</a:t>
            </a:r>
          </a:p>
          <a:p>
            <a:r>
              <a:rPr lang="en-IN" dirty="0"/>
              <a:t>The proposed solution is a </a:t>
            </a:r>
            <a:r>
              <a:rPr lang="en-IN" b="1" dirty="0"/>
              <a:t>multi-agent AI-powered Health Symptom Checker</a:t>
            </a:r>
            <a:r>
              <a:rPr lang="en-IN" dirty="0"/>
              <a:t> built using </a:t>
            </a:r>
            <a:r>
              <a:rPr lang="en-IN" b="1" dirty="0"/>
              <a:t>IBM </a:t>
            </a:r>
            <a:r>
              <a:rPr lang="en-IN" b="1" dirty="0" err="1"/>
              <a:t>watsonx</a:t>
            </a:r>
            <a:r>
              <a:rPr lang="en-IN" b="1" dirty="0"/>
              <a:t> Orchestrate, IBM watsonx.ai, GPT-OSS 120B, and Retrieval-Augmented Generation (RAG)</a:t>
            </a:r>
            <a:r>
              <a:rPr lang="en-IN" dirty="0"/>
              <a:t> to provide reliable and personalized health guidance. The system helps users understand symptoms, assess health risks, and make informed healthcare decisions through an intelligent agentic architecture.</a:t>
            </a:r>
          </a:p>
          <a:p>
            <a:r>
              <a:rPr lang="en-IN" dirty="0"/>
              <a:t>At its core, the solution uses a </a:t>
            </a:r>
            <a:r>
              <a:rPr lang="en-IN" b="1" dirty="0"/>
              <a:t>RAG pipeline</a:t>
            </a:r>
            <a:r>
              <a:rPr lang="en-IN" dirty="0"/>
              <a:t> to retrieve accurate medical information from trusted sources such as </a:t>
            </a:r>
            <a:r>
              <a:rPr lang="en-IN" b="1" dirty="0"/>
              <a:t>WHO guidelines, government health portals, first-aid manuals, and verified medical references</a:t>
            </a:r>
            <a:r>
              <a:rPr lang="en-IN" dirty="0"/>
              <a:t>. This information is embedded and stored in a knowledge base, enabling the system to retrieve relevant health information and generate evidence-based responses.</a:t>
            </a:r>
          </a:p>
          <a:p>
            <a:r>
              <a:rPr lang="en-IN" dirty="0"/>
              <a:t>The system consists of four key agents:</a:t>
            </a:r>
          </a:p>
          <a:p>
            <a:r>
              <a:rPr lang="en-IN" b="1" dirty="0"/>
              <a:t>Health Knowledge Agent</a:t>
            </a:r>
            <a:r>
              <a:rPr lang="en-IN" dirty="0"/>
              <a:t> retrieves and summarizes trusted medical information using RAG.</a:t>
            </a:r>
          </a:p>
          <a:p>
            <a:r>
              <a:rPr lang="en-IN" b="1" dirty="0"/>
              <a:t>Symptom Assessment Agent</a:t>
            </a:r>
            <a:r>
              <a:rPr lang="en-IN" dirty="0"/>
              <a:t> </a:t>
            </a:r>
            <a:r>
              <a:rPr lang="en-IN" dirty="0" err="1"/>
              <a:t>analyzes</a:t>
            </a:r>
            <a:r>
              <a:rPr lang="en-IN" dirty="0"/>
              <a:t> user symptoms and identifies possible health conditions and severity levels.</a:t>
            </a:r>
          </a:p>
          <a:p>
            <a:r>
              <a:rPr lang="en-IN" b="1" dirty="0"/>
              <a:t>Health Advisory Agent</a:t>
            </a:r>
            <a:r>
              <a:rPr lang="en-IN" dirty="0"/>
              <a:t> provides preventive care recommendations, self-care guidance, and wellness suggestions.</a:t>
            </a:r>
          </a:p>
          <a:p>
            <a:r>
              <a:rPr lang="en-IN" b="1" dirty="0"/>
              <a:t>Emergency Detection Agent</a:t>
            </a:r>
            <a:r>
              <a:rPr lang="en-IN" dirty="0"/>
              <a:t> identifies critical symptoms and recommends immediate medical attention when necessary.</a:t>
            </a:r>
          </a:p>
          <a:p>
            <a:r>
              <a:rPr lang="en-IN" dirty="0"/>
              <a:t>The solution includes a </a:t>
            </a:r>
            <a:r>
              <a:rPr lang="en-IN" b="1" dirty="0"/>
              <a:t>user-friendly web interface</a:t>
            </a:r>
            <a:r>
              <a:rPr lang="en-IN" dirty="0"/>
              <a:t> where users can describe symptoms in natural language and receive instant health insights. The platform supports multilingual interactions and provides urgency assessments, health recommendations, and trusted educational information.</a:t>
            </a:r>
          </a:p>
          <a:p>
            <a:r>
              <a:rPr lang="en-IN" b="1" dirty="0"/>
              <a:t>IBM </a:t>
            </a:r>
            <a:r>
              <a:rPr lang="en-IN" b="1" dirty="0" err="1"/>
              <a:t>watsonx</a:t>
            </a:r>
            <a:r>
              <a:rPr lang="en-IN" b="1" dirty="0"/>
              <a:t> Orchestrate</a:t>
            </a:r>
            <a:r>
              <a:rPr lang="en-IN" dirty="0"/>
              <a:t> is used to coordinate agent workflows and decision-making, while </a:t>
            </a:r>
            <a:r>
              <a:rPr lang="en-IN" b="1" dirty="0"/>
              <a:t>IBM watsonx.ai and GPT-OSS 120B</a:t>
            </a:r>
            <a:r>
              <a:rPr lang="en-IN" dirty="0"/>
              <a:t> provide advanced reasoning, language understanding, and response generation capabilities.</a:t>
            </a:r>
          </a:p>
          <a:p>
            <a:r>
              <a:rPr lang="en-IN" dirty="0"/>
              <a:t>Overall, MediGuide AI delivers an </a:t>
            </a:r>
            <a:r>
              <a:rPr lang="en-IN" b="1" dirty="0"/>
              <a:t>end-to-end intelligent health assistance system</a:t>
            </a:r>
            <a:r>
              <a:rPr lang="en-IN" dirty="0"/>
              <a:t> that promotes early health awareness, reduces misinformation, encourages timely medical consultation, and empowers users with trustworthy health guidance. 🩺🤖</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35;p5">
            <a:extLst>
              <a:ext uri="{FF2B5EF4-FFF2-40B4-BE49-F238E27FC236}">
                <a16:creationId xmlns:a16="http://schemas.microsoft.com/office/drawing/2014/main" id="{78578745-3233-E2C4-2AF4-55BA57C68D3F}"/>
              </a:ext>
            </a:extLst>
          </p:cNvPr>
          <p:cNvSpPr/>
          <p:nvPr/>
        </p:nvSpPr>
        <p:spPr>
          <a:xfrm>
            <a:off x="699713" y="248038"/>
            <a:ext cx="7063721" cy="1159200"/>
          </a:xfrm>
          <a:prstGeom prst="rect">
            <a:avLst/>
          </a:prstGeom>
        </p:spPr>
        <p:txBody>
          <a:bodyPr spcFirstLastPara="1" vert="horz" lIns="91440" tIns="45720" rIns="91440" bIns="45720" rtlCol="0" anchor="ctr" anchorCtr="0">
            <a:normAutofit/>
          </a:bodyPr>
          <a:lstStyle/>
          <a:p>
            <a:pPr lvl="0">
              <a:lnSpc>
                <a:spcPct val="90000"/>
              </a:lnSpc>
              <a:spcBef>
                <a:spcPct val="0"/>
              </a:spcBef>
              <a:spcAft>
                <a:spcPts val="600"/>
              </a:spcAft>
            </a:pPr>
            <a:r>
              <a:rPr lang="en-US" sz="4000" b="1" kern="1200">
                <a:solidFill>
                  <a:srgbClr val="FFFFFF"/>
                </a:solidFill>
                <a:latin typeface="+mj-lt"/>
                <a:ea typeface="+mj-ea"/>
                <a:cs typeface="+mj-cs"/>
                <a:sym typeface="Calibri"/>
              </a:rPr>
              <a:t>Architecture blueprint</a:t>
            </a:r>
            <a:endParaRPr lang="en-US" sz="4000" kern="1200">
              <a:solidFill>
                <a:srgbClr val="FFFFFF"/>
              </a:solidFill>
              <a:latin typeface="+mj-lt"/>
              <a:ea typeface="+mj-ea"/>
              <a:cs typeface="+mj-cs"/>
            </a:endParaRPr>
          </a:p>
        </p:txBody>
      </p:sp>
      <p:pic>
        <p:nvPicPr>
          <p:cNvPr id="6" name="Picture 5">
            <a:extLst>
              <a:ext uri="{FF2B5EF4-FFF2-40B4-BE49-F238E27FC236}">
                <a16:creationId xmlns:a16="http://schemas.microsoft.com/office/drawing/2014/main" id="{68FA9F92-AABF-3A16-3D7E-E12BEC8B5E4D}"/>
              </a:ext>
            </a:extLst>
          </p:cNvPr>
          <p:cNvPicPr>
            <a:picLocks noChangeAspect="1"/>
          </p:cNvPicPr>
          <p:nvPr/>
        </p:nvPicPr>
        <p:blipFill>
          <a:blip r:embed="rId3"/>
          <a:stretch>
            <a:fillRect/>
          </a:stretch>
        </p:blipFill>
        <p:spPr>
          <a:xfrm>
            <a:off x="1130710" y="1966293"/>
            <a:ext cx="9458632" cy="44521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0F03E-5AFF-31DE-1761-B64BA3D13070}"/>
              </a:ext>
            </a:extLst>
          </p:cNvPr>
          <p:cNvSpPr>
            <a:spLocks noGrp="1"/>
          </p:cNvSpPr>
          <p:nvPr>
            <p:ph type="title"/>
          </p:nvPr>
        </p:nvSpPr>
        <p:spPr/>
        <p:txBody>
          <a:bodyPr/>
          <a:lstStyle/>
          <a:p>
            <a:r>
              <a:rPr lang="en-IN" dirty="0"/>
              <a:t>Embed on your website</a:t>
            </a:r>
          </a:p>
        </p:txBody>
      </p:sp>
      <p:sp>
        <p:nvSpPr>
          <p:cNvPr id="3" name="Text Placeholder 2">
            <a:extLst>
              <a:ext uri="{FF2B5EF4-FFF2-40B4-BE49-F238E27FC236}">
                <a16:creationId xmlns:a16="http://schemas.microsoft.com/office/drawing/2014/main" id="{0791B96B-D557-774D-5E2D-F7C8DDFBD46D}"/>
              </a:ext>
            </a:extLst>
          </p:cNvPr>
          <p:cNvSpPr>
            <a:spLocks noGrp="1"/>
          </p:cNvSpPr>
          <p:nvPr>
            <p:ph type="body" idx="1"/>
          </p:nvPr>
        </p:nvSpPr>
        <p:spPr/>
        <p:txBody>
          <a:bodyPr>
            <a:normAutofit/>
          </a:bodyPr>
          <a:lstStyle/>
          <a:p>
            <a:r>
              <a:rPr lang="en-IN" sz="1600" dirty="0"/>
              <a:t>&lt;script&gt; </a:t>
            </a:r>
            <a:r>
              <a:rPr lang="en-IN" sz="1600" dirty="0" err="1"/>
              <a:t>window.wxOConfiguration</a:t>
            </a:r>
            <a:r>
              <a:rPr lang="en-IN" sz="1600" dirty="0"/>
              <a:t> = { </a:t>
            </a:r>
            <a:r>
              <a:rPr lang="en-IN" sz="1600" dirty="0" err="1"/>
              <a:t>orchestrationID</a:t>
            </a:r>
            <a:r>
              <a:rPr lang="en-IN" sz="1600" dirty="0"/>
              <a:t>: "3ec4d8c27f8d423eb5a89eb6e2b97585_cfe7047f-e2c1-4307-813b-a0b8835f1440", </a:t>
            </a:r>
            <a:r>
              <a:rPr lang="en-IN" sz="1600" dirty="0" err="1"/>
              <a:t>hostURL</a:t>
            </a:r>
            <a:r>
              <a:rPr lang="en-IN" sz="1600" dirty="0"/>
              <a:t>: "https://au-syd.watson-orchestrate.cloud.ibm.com", </a:t>
            </a:r>
            <a:r>
              <a:rPr lang="en-IN" sz="1600" dirty="0" err="1"/>
              <a:t>rootElementID</a:t>
            </a:r>
            <a:r>
              <a:rPr lang="en-IN" sz="1600" dirty="0"/>
              <a:t>: "root", </a:t>
            </a:r>
            <a:r>
              <a:rPr lang="en-IN" sz="1600" dirty="0" err="1"/>
              <a:t>deploymentPlatform</a:t>
            </a:r>
            <a:r>
              <a:rPr lang="en-IN" sz="1600" dirty="0"/>
              <a:t>: "</a:t>
            </a:r>
            <a:r>
              <a:rPr lang="en-IN" sz="1600" dirty="0" err="1"/>
              <a:t>ibmcloud</a:t>
            </a:r>
            <a:r>
              <a:rPr lang="en-IN" sz="1600" dirty="0"/>
              <a:t>", </a:t>
            </a:r>
            <a:r>
              <a:rPr lang="en-IN" sz="1600" dirty="0" err="1"/>
              <a:t>crn</a:t>
            </a:r>
            <a:r>
              <a:rPr lang="en-IN" sz="1600" dirty="0"/>
              <a:t>: "crn:v1:bluemix:public:watsonx-orchestrate:au-syd:a/3ec4d8c27f8d423eb5a89eb6e2b97585:cfe7047f-e2c1-4307-813b-a0b8835f1440::", </a:t>
            </a:r>
            <a:r>
              <a:rPr lang="en-IN" sz="1600" dirty="0" err="1"/>
              <a:t>chatOptions</a:t>
            </a:r>
            <a:r>
              <a:rPr lang="en-IN" sz="1600" dirty="0"/>
              <a:t>: { </a:t>
            </a:r>
            <a:r>
              <a:rPr lang="en-IN" sz="1600" dirty="0" err="1"/>
              <a:t>agentId</a:t>
            </a:r>
            <a:r>
              <a:rPr lang="en-IN" sz="1600" dirty="0"/>
              <a:t>: "c2dd865e-12b4-486b-a45d-bfdb460abfe1", } }; </a:t>
            </a:r>
            <a:r>
              <a:rPr lang="en-IN" sz="1600" dirty="0" err="1"/>
              <a:t>setTimeout</a:t>
            </a:r>
            <a:r>
              <a:rPr lang="en-IN" sz="1600" dirty="0"/>
              <a:t>(function () { </a:t>
            </a:r>
            <a:r>
              <a:rPr lang="en-IN" sz="1600" dirty="0" err="1"/>
              <a:t>const</a:t>
            </a:r>
            <a:r>
              <a:rPr lang="en-IN" sz="1600" dirty="0"/>
              <a:t> script = </a:t>
            </a:r>
            <a:r>
              <a:rPr lang="en-IN" sz="1600" dirty="0" err="1"/>
              <a:t>document.createElement</a:t>
            </a:r>
            <a:r>
              <a:rPr lang="en-IN" sz="1600" dirty="0"/>
              <a:t>('script'); </a:t>
            </a:r>
            <a:r>
              <a:rPr lang="en-IN" sz="1600" dirty="0" err="1"/>
              <a:t>script.src</a:t>
            </a:r>
            <a:r>
              <a:rPr lang="en-IN" sz="1600" dirty="0"/>
              <a:t> = `${</a:t>
            </a:r>
            <a:r>
              <a:rPr lang="en-IN" sz="1600" dirty="0" err="1"/>
              <a:t>window.wxOConfiguration.hostURL</a:t>
            </a:r>
            <a:r>
              <a:rPr lang="en-IN" sz="1600" dirty="0"/>
              <a:t>}/</a:t>
            </a:r>
            <a:r>
              <a:rPr lang="en-IN" sz="1600" dirty="0" err="1"/>
              <a:t>wxochat</a:t>
            </a:r>
            <a:r>
              <a:rPr lang="en-IN" sz="1600" dirty="0"/>
              <a:t>/</a:t>
            </a:r>
            <a:r>
              <a:rPr lang="en-IN" sz="1600" dirty="0" err="1"/>
              <a:t>wxoLoader.js?embed</a:t>
            </a:r>
            <a:r>
              <a:rPr lang="en-IN" sz="1600" dirty="0"/>
              <a:t>=true`; </a:t>
            </a:r>
            <a:r>
              <a:rPr lang="en-IN" sz="1600" dirty="0" err="1"/>
              <a:t>script.addEventListener</a:t>
            </a:r>
            <a:r>
              <a:rPr lang="en-IN" sz="1600" dirty="0"/>
              <a:t>('load', function () { </a:t>
            </a:r>
            <a:r>
              <a:rPr lang="en-IN" sz="1600" dirty="0" err="1"/>
              <a:t>wxoLoader.init</a:t>
            </a:r>
            <a:r>
              <a:rPr lang="en-IN" sz="1600" dirty="0"/>
              <a:t>(); }); </a:t>
            </a:r>
            <a:r>
              <a:rPr lang="en-IN" sz="1600" dirty="0" err="1"/>
              <a:t>document.head.appendChild</a:t>
            </a:r>
            <a:r>
              <a:rPr lang="en-IN" sz="1600" dirty="0"/>
              <a:t>(script); }, 0); &lt;/script&gt;</a:t>
            </a:r>
          </a:p>
        </p:txBody>
      </p:sp>
    </p:spTree>
    <p:extLst>
      <p:ext uri="{BB962C8B-B14F-4D97-AF65-F5344CB8AC3E}">
        <p14:creationId xmlns:p14="http://schemas.microsoft.com/office/powerpoint/2010/main" val="2277975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1"/>
        <p:cNvGrpSpPr/>
        <p:nvPr/>
      </p:nvGrpSpPr>
      <p:grpSpPr>
        <a:xfrm>
          <a:off x="0" y="0"/>
          <a:ext cx="0" cy="0"/>
          <a:chOff x="0" y="0"/>
          <a:chExt cx="0" cy="0"/>
        </a:xfrm>
      </p:grpSpPr>
      <p:sp useBgFill="1">
        <p:nvSpPr>
          <p:cNvPr id="242"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84A7B44-8B20-5A39-ED43-DA98D0FC7976}"/>
              </a:ext>
            </a:extLst>
          </p:cNvPr>
          <p:cNvSpPr txBox="1"/>
          <p:nvPr/>
        </p:nvSpPr>
        <p:spPr>
          <a:xfrm>
            <a:off x="294640" y="497841"/>
            <a:ext cx="5801357" cy="711200"/>
          </a:xfrm>
          <a:prstGeom prst="rect">
            <a:avLst/>
          </a:prstGeom>
        </p:spPr>
        <p:txBody>
          <a:bodyPr vert="horz" lIns="91440" tIns="45720" rIns="91440" bIns="45720" rtlCol="0" anchor="ctr">
            <a:normAutofit fontScale="70000" lnSpcReduction="20000"/>
          </a:bodyPr>
          <a:lstStyle/>
          <a:p>
            <a:pPr>
              <a:lnSpc>
                <a:spcPct val="90000"/>
              </a:lnSpc>
              <a:spcBef>
                <a:spcPct val="0"/>
              </a:spcBef>
              <a:spcAft>
                <a:spcPts val="600"/>
              </a:spcAft>
            </a:pPr>
            <a:r>
              <a:rPr lang="en-US" sz="4000" b="1" kern="1200">
                <a:solidFill>
                  <a:schemeClr val="tx1"/>
                </a:solidFill>
                <a:latin typeface="+mj-lt"/>
                <a:ea typeface="+mj-ea"/>
                <a:cs typeface="+mj-cs"/>
              </a:rPr>
              <a:t>Role of Agentic AI in the solution </a:t>
            </a:r>
            <a:endParaRPr lang="en-US" sz="4000" b="1"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193040" y="1076960"/>
            <a:ext cx="6482080" cy="5659120"/>
          </a:xfrm>
          <a:prstGeom prst="rect">
            <a:avLst/>
          </a:prstGeom>
        </p:spPr>
        <p:txBody>
          <a:bodyPr vert="horz" lIns="91440" tIns="45720" rIns="91440" bIns="45720" rtlCol="0" anchor="ctr">
            <a:noAutofit/>
          </a:bodyPr>
          <a:lstStyle/>
          <a:p>
            <a:pPr indent="-228600">
              <a:lnSpc>
                <a:spcPct val="90000"/>
              </a:lnSpc>
              <a:spcAft>
                <a:spcPts val="600"/>
              </a:spcAft>
              <a:buFont typeface="Arial" panose="020B0604020202020204" pitchFamily="34" charset="0"/>
              <a:buChar char="•"/>
            </a:pPr>
            <a:r>
              <a:rPr lang="en-US" sz="900" b="1" kern="1200" dirty="0">
                <a:solidFill>
                  <a:schemeClr val="tx1"/>
                </a:solidFill>
                <a:latin typeface="+mn-lt"/>
                <a:ea typeface="+mn-ea"/>
                <a:cs typeface="+mn-cs"/>
              </a:rPr>
              <a:t>Role of Agentic AI in </a:t>
            </a:r>
            <a:r>
              <a:rPr lang="en-US" sz="900" b="1" kern="1200" dirty="0" err="1">
                <a:solidFill>
                  <a:schemeClr val="tx1"/>
                </a:solidFill>
                <a:latin typeface="+mn-lt"/>
                <a:ea typeface="+mn-ea"/>
                <a:cs typeface="+mn-cs"/>
              </a:rPr>
              <a:t>MediGuide</a:t>
            </a:r>
            <a:r>
              <a:rPr lang="en-US" sz="900" b="1" kern="1200" dirty="0">
                <a:solidFill>
                  <a:schemeClr val="tx1"/>
                </a:solidFill>
                <a:latin typeface="+mn-lt"/>
                <a:ea typeface="+mn-ea"/>
                <a:cs typeface="+mn-cs"/>
              </a:rPr>
              <a:t> AI</a:t>
            </a:r>
          </a:p>
          <a:p>
            <a:pPr indent="-228600">
              <a:lnSpc>
                <a:spcPct val="90000"/>
              </a:lnSpc>
              <a:spcAft>
                <a:spcPts val="600"/>
              </a:spcAft>
              <a:buFont typeface="Arial" panose="020B0604020202020204" pitchFamily="34" charset="0"/>
              <a:buChar char="•"/>
            </a:pPr>
            <a:r>
              <a:rPr lang="en-US" sz="900" b="1" kern="1200" dirty="0">
                <a:solidFill>
                  <a:schemeClr val="tx1"/>
                </a:solidFill>
                <a:latin typeface="+mn-lt"/>
                <a:ea typeface="+mn-ea"/>
                <a:cs typeface="+mn-cs"/>
              </a:rPr>
              <a:t>Agentic AI is the core intelligence behind </a:t>
            </a:r>
            <a:r>
              <a:rPr lang="en-US" sz="900" b="1" kern="1200" dirty="0" err="1">
                <a:solidFill>
                  <a:schemeClr val="tx1"/>
                </a:solidFill>
                <a:latin typeface="+mn-lt"/>
                <a:ea typeface="+mn-ea"/>
                <a:cs typeface="+mn-cs"/>
              </a:rPr>
              <a:t>MediGuide</a:t>
            </a:r>
            <a:r>
              <a:rPr lang="en-US" sz="900" b="1" kern="1200" dirty="0">
                <a:solidFill>
                  <a:schemeClr val="tx1"/>
                </a:solidFill>
                <a:latin typeface="+mn-lt"/>
                <a:ea typeface="+mn-ea"/>
                <a:cs typeface="+mn-cs"/>
              </a:rPr>
              <a:t> AI.</a:t>
            </a:r>
            <a:r>
              <a:rPr lang="en-US" sz="900" kern="1200" dirty="0">
                <a:solidFill>
                  <a:schemeClr val="tx1"/>
                </a:solidFill>
                <a:latin typeface="+mn-lt"/>
                <a:ea typeface="+mn-ea"/>
                <a:cs typeface="+mn-cs"/>
              </a:rPr>
              <a:t> Instead of simply answering questions, it can </a:t>
            </a:r>
            <a:r>
              <a:rPr lang="en-US" sz="900" b="1" kern="1200" dirty="0">
                <a:solidFill>
                  <a:schemeClr val="tx1"/>
                </a:solidFill>
                <a:latin typeface="+mn-lt"/>
                <a:ea typeface="+mn-ea"/>
                <a:cs typeface="+mn-cs"/>
              </a:rPr>
              <a:t>understand user symptoms, plan actions, retrieve trusted medical information, reason about possible health conditions, and provide personalized guidance.</a:t>
            </a:r>
            <a:endParaRPr lang="en-US" sz="9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900" b="1" kern="1200" dirty="0">
                <a:solidFill>
                  <a:schemeClr val="tx1"/>
                </a:solidFill>
                <a:latin typeface="+mn-lt"/>
                <a:ea typeface="+mn-ea"/>
                <a:cs typeface="+mn-cs"/>
              </a:rPr>
              <a:t>Key Roles of Agentic AI</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 </a:t>
            </a:r>
            <a:r>
              <a:rPr lang="en-US" sz="900" b="1" kern="1200" dirty="0">
                <a:solidFill>
                  <a:schemeClr val="tx1"/>
                </a:solidFill>
                <a:latin typeface="+mn-lt"/>
                <a:ea typeface="+mn-ea"/>
                <a:cs typeface="+mn-cs"/>
              </a:rPr>
              <a:t>Symptom Understanding</a:t>
            </a:r>
            <a:endParaRPr lang="en-US" sz="9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Interprets symptoms described in natural language.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Extracts important health information from user input.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 </a:t>
            </a:r>
            <a:r>
              <a:rPr lang="en-US" sz="900" b="1" kern="1200" dirty="0">
                <a:solidFill>
                  <a:schemeClr val="tx1"/>
                </a:solidFill>
                <a:latin typeface="+mn-lt"/>
                <a:ea typeface="+mn-ea"/>
                <a:cs typeface="+mn-cs"/>
              </a:rPr>
              <a:t>Knowledge Retrieval (RAG)</a:t>
            </a:r>
            <a:endParaRPr lang="en-US" sz="9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Searches trusted sources such as WHO guidelines, government health portals, and medical documents.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Retrieves relevant medical information before responding.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 </a:t>
            </a:r>
            <a:r>
              <a:rPr lang="en-US" sz="900" b="1" kern="1200" dirty="0">
                <a:solidFill>
                  <a:schemeClr val="tx1"/>
                </a:solidFill>
                <a:latin typeface="+mn-lt"/>
                <a:ea typeface="+mn-ea"/>
                <a:cs typeface="+mn-cs"/>
              </a:rPr>
              <a:t>Multi-Agent Collaboration</a:t>
            </a:r>
            <a:endParaRPr lang="en-US" sz="9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Health Knowledge Agent retrieves medical facts.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Symptom Assessment Agent analyzes symptoms.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Health Advisory Agent provides recommendations.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Emergency Detection Agent identifies critical situations.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 </a:t>
            </a:r>
            <a:r>
              <a:rPr lang="en-US" sz="900" b="1" kern="1200" dirty="0">
                <a:solidFill>
                  <a:schemeClr val="tx1"/>
                </a:solidFill>
                <a:latin typeface="+mn-lt"/>
                <a:ea typeface="+mn-ea"/>
                <a:cs typeface="+mn-cs"/>
              </a:rPr>
              <a:t>Reasoning and Decision-Making</a:t>
            </a:r>
            <a:endParaRPr lang="en-US" sz="9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Evaluates symptom severity.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Determines urgency levels (Low, Medium, High).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Suggests appropriate next actions.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 </a:t>
            </a:r>
            <a:r>
              <a:rPr lang="en-US" sz="900" b="1" kern="1200" dirty="0">
                <a:solidFill>
                  <a:schemeClr val="tx1"/>
                </a:solidFill>
                <a:latin typeface="+mn-lt"/>
                <a:ea typeface="+mn-ea"/>
                <a:cs typeface="+mn-cs"/>
              </a:rPr>
              <a:t>Personalized Guidance</a:t>
            </a:r>
            <a:endParaRPr lang="en-US" sz="9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Provides tailored health advice based on symptoms and context.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Adapts responses to the user's language and needs.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 </a:t>
            </a:r>
            <a:r>
              <a:rPr lang="en-US" sz="900" b="1" kern="1200" dirty="0">
                <a:solidFill>
                  <a:schemeClr val="tx1"/>
                </a:solidFill>
                <a:latin typeface="+mn-lt"/>
                <a:ea typeface="+mn-ea"/>
                <a:cs typeface="+mn-cs"/>
              </a:rPr>
              <a:t>Safety and Reliability</a:t>
            </a:r>
            <a:endParaRPr lang="en-US" sz="9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Avoids self-diagnosis and unsupported medical claims.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Encourages professional medical consultation when necessary. </a:t>
            </a:r>
          </a:p>
          <a:p>
            <a:pPr indent="-228600">
              <a:lnSpc>
                <a:spcPct val="90000"/>
              </a:lnSpc>
              <a:spcAft>
                <a:spcPts val="600"/>
              </a:spcAft>
              <a:buFont typeface="Arial" panose="020B0604020202020204" pitchFamily="34" charset="0"/>
              <a:buChar char="•"/>
            </a:pPr>
            <a:r>
              <a:rPr lang="en-US" sz="900" kern="1200" dirty="0">
                <a:solidFill>
                  <a:schemeClr val="tx1"/>
                </a:solidFill>
                <a:latin typeface="+mn-lt"/>
                <a:ea typeface="+mn-ea"/>
                <a:cs typeface="+mn-cs"/>
              </a:rPr>
              <a:t>Uses only trusted and verified health information.</a:t>
            </a:r>
          </a:p>
        </p:txBody>
      </p:sp>
      <p:pic>
        <p:nvPicPr>
          <p:cNvPr id="196" name="Google Shape;196;p9"/>
          <p:cNvPicPr preferRelativeResize="0"/>
          <p:nvPr/>
        </p:nvPicPr>
        <p:blipFill rotWithShape="1">
          <a:blip r:embed="rId3"/>
          <a:srcRect t="14046" r="-1" b="-1"/>
          <a:stretch>
            <a:fillRect/>
          </a:stretch>
        </p:blipFill>
        <p:spPr>
          <a:xfrm>
            <a:off x="6857796" y="-10886"/>
            <a:ext cx="5334204" cy="6868886"/>
          </a:xfrm>
          <a:prstGeom prst="rect">
            <a:avLst/>
          </a:prstGeom>
          <a:noFill/>
          <a:effectLst>
            <a:outerShdw blurRad="127000" dist="50800" dir="10800000" sx="99000" sy="99000" algn="r"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r>
              <a:rPr lang="en-IN" sz="1800" dirty="0"/>
              <a:t>For </a:t>
            </a:r>
            <a:r>
              <a:rPr lang="en-IN" sz="1800" b="1" dirty="0"/>
              <a:t>MediGuide AI</a:t>
            </a:r>
            <a:r>
              <a:rPr lang="en-IN" sz="1800" dirty="0"/>
              <a:t>, you can use this content for the </a:t>
            </a:r>
            <a:r>
              <a:rPr lang="en-IN" sz="1800" b="1" dirty="0"/>
              <a:t>Technology Used</a:t>
            </a:r>
            <a:r>
              <a:rPr lang="en-IN" sz="1800" dirty="0"/>
              <a:t> slide:</a:t>
            </a:r>
          </a:p>
          <a:p>
            <a:r>
              <a:rPr lang="en-IN" sz="1800" b="1" dirty="0"/>
              <a:t>Technology Used</a:t>
            </a:r>
          </a:p>
          <a:p>
            <a:r>
              <a:rPr lang="en-IN" sz="1800" b="1" dirty="0"/>
              <a:t>IBM </a:t>
            </a:r>
            <a:r>
              <a:rPr lang="en-IN" sz="1800" b="1" dirty="0" err="1"/>
              <a:t>watsonx</a:t>
            </a:r>
            <a:r>
              <a:rPr lang="en-IN" sz="1800" b="1" dirty="0"/>
              <a:t> Orchestrate</a:t>
            </a:r>
            <a:r>
              <a:rPr lang="en-IN" sz="1800" dirty="0"/>
              <a:t> - Used to design and coordinate the Agentic AI workflow, manage tasks, and orchestrate interactions between multiple AI agents. </a:t>
            </a:r>
          </a:p>
          <a:p>
            <a:r>
              <a:rPr lang="en-IN" sz="1800" b="1" dirty="0"/>
              <a:t>IBM watsonx.ai</a:t>
            </a:r>
            <a:r>
              <a:rPr lang="en-IN" sz="1800" dirty="0"/>
              <a:t> - Provides AI model deployment, prompt engineering, reasoning capabilities, and AI governance for the solution. </a:t>
            </a:r>
          </a:p>
          <a:p>
            <a:r>
              <a:rPr lang="en-IN" sz="1800" b="1" dirty="0"/>
              <a:t>GPT-OSS 120B</a:t>
            </a:r>
            <a:r>
              <a:rPr lang="en-IN" sz="1800" dirty="0"/>
              <a:t> - Used for natural language understanding, symptom analysis, reasoning, and generating human-like health guidance. </a:t>
            </a:r>
          </a:p>
          <a:p>
            <a:r>
              <a:rPr lang="en-IN" sz="1800" b="1" dirty="0"/>
              <a:t>Retrieval-Augmented Generation (RAG)</a:t>
            </a:r>
            <a:r>
              <a:rPr lang="en-IN" sz="1800" dirty="0"/>
              <a:t> - Retrieves trusted medical information from WHO guidelines, government health portals, and verified medical documents before generating responses. </a:t>
            </a:r>
          </a:p>
          <a:p>
            <a:r>
              <a:rPr lang="en-IN" sz="1800" b="1" dirty="0"/>
              <a:t>Knowledge Base (Uploaded Medical Documents)</a:t>
            </a:r>
            <a:r>
              <a:rPr lang="en-IN" sz="1800" dirty="0"/>
              <a:t> - Stores trusted healthcare resources for accurate and evidence-based information retrieval. </a:t>
            </a:r>
          </a:p>
          <a:p>
            <a:r>
              <a:rPr lang="en-IN" sz="1800" b="1" dirty="0"/>
              <a:t>IBM Cloud Lite</a:t>
            </a:r>
            <a:r>
              <a:rPr lang="en-IN" sz="1800" dirty="0"/>
              <a:t> - Provides a secure, scalable, and reliable cloud environment for deploying and managing the application.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914891" y="563290"/>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AEDBBD-F930-2AC8-60D6-6A5CAB46D00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spcBef>
                <a:spcPct val="0"/>
              </a:spcBef>
            </a:pPr>
            <a:r>
              <a:rPr lang="en-US" sz="3200" kern="1200">
                <a:solidFill>
                  <a:schemeClr val="bg1"/>
                </a:solidFill>
                <a:latin typeface="+mj-lt"/>
                <a:ea typeface="+mj-ea"/>
                <a:cs typeface="+mj-cs"/>
              </a:rPr>
              <a:t>Result</a:t>
            </a:r>
          </a:p>
        </p:txBody>
      </p:sp>
      <p:pic>
        <p:nvPicPr>
          <p:cNvPr id="5" name="Picture 4">
            <a:extLst>
              <a:ext uri="{FF2B5EF4-FFF2-40B4-BE49-F238E27FC236}">
                <a16:creationId xmlns:a16="http://schemas.microsoft.com/office/drawing/2014/main" id="{9481CC65-6AF7-E99C-1456-C7A7B941952C}"/>
              </a:ext>
            </a:extLst>
          </p:cNvPr>
          <p:cNvPicPr>
            <a:picLocks noChangeAspect="1"/>
          </p:cNvPicPr>
          <p:nvPr/>
        </p:nvPicPr>
        <p:blipFill>
          <a:blip r:embed="rId2"/>
          <a:stretch>
            <a:fillRect/>
          </a:stretch>
        </p:blipFill>
        <p:spPr>
          <a:xfrm>
            <a:off x="1421320" y="1675227"/>
            <a:ext cx="9349359" cy="4394199"/>
          </a:xfrm>
          <a:prstGeom prst="rect">
            <a:avLst/>
          </a:prstGeom>
        </p:spPr>
      </p:pic>
    </p:spTree>
    <p:extLst>
      <p:ext uri="{BB962C8B-B14F-4D97-AF65-F5344CB8AC3E}">
        <p14:creationId xmlns:p14="http://schemas.microsoft.com/office/powerpoint/2010/main" val="26585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992582" y="1153712"/>
            <a:ext cx="10432502"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–https://github.com/Shivapillai057/MediGuide-AI-Agentic-Health-Symptom-Checker</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1725</TotalTime>
  <Words>1669</Words>
  <Application>Microsoft Office PowerPoint</Application>
  <PresentationFormat>Widescreen</PresentationFormat>
  <Paragraphs>125</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Embed on your website</vt:lpstr>
      <vt:lpstr>PowerPoint Presentation</vt:lpstr>
      <vt:lpstr>PowerPoint Presentation</vt:lpstr>
      <vt:lpstr>PowerPoint Presentation</vt:lpstr>
      <vt:lpstr>Result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SHIVA PILLAI</cp:lastModifiedBy>
  <cp:revision>23</cp:revision>
  <dcterms:created xsi:type="dcterms:W3CDTF">2025-07-08T05:06:56Z</dcterms:created>
  <dcterms:modified xsi:type="dcterms:W3CDTF">2026-06-03T18:41:35Z</dcterms:modified>
</cp:coreProperties>
</file>